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CASE STUDY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Movie Database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Business Questions Solved in MySQL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703320"/>
            <a:ext cx="2011680" cy="274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and analytical SQL on a six-table IMDb schema, prepared as a decision brief for RSVP Movies' next production.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Dipanshu Rangari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577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  •  MySQL Workbench  •  IMDb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SQL Case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11183112" cy="786384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17099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02996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RSVP Movies commissioned this analysis and what decision it supports.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578608"/>
            <a:ext cx="11183112" cy="786384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157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26426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schema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2962656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related tables covering movies, genres, ratings, cast and directors.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511296"/>
            <a:ext cx="11183112" cy="786384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4845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35753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389534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question was translated into SQL and validated in Workbench.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443984"/>
            <a:ext cx="11183112" cy="786384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58114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4507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questions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482803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and query on one slide, the result grid on the next — across 4 segments.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376672"/>
            <a:ext cx="11183112" cy="786384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51383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54480" y="5440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54480" y="576072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findings and a production recommendation.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SQL Case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statement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1183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RSVP Movies is an Indian film production company planning a global release. Historically it has produced films for the local audience only. The company wants its next project to work worldwide, and asked for a data-backed view of what has actually performed well in recent years.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3566160" cy="141732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606040"/>
            <a:ext cx="45720" cy="14173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genre?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Volume, average duration and rating strength by genre.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9392" y="2606040"/>
            <a:ext cx="3566160" cy="141732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5" name="Shape 13"/>
          <p:cNvSpPr/>
          <p:nvPr/>
        </p:nvSpPr>
        <p:spPr>
          <a:xfrm>
            <a:off x="4279392" y="2606040"/>
            <a:ext cx="45720" cy="14173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4553712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people?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53712" y="32004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Directors, actors and actresses with a track record of hits.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55864" y="2606040"/>
            <a:ext cx="3566160" cy="141732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9" name="Shape 17"/>
          <p:cNvSpPr/>
          <p:nvPr/>
        </p:nvSpPr>
        <p:spPr>
          <a:xfrm>
            <a:off x="8055864" y="2606040"/>
            <a:ext cx="45720" cy="14173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8330184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partner?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30184" y="32004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houses ranked by hits and by audience votes.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analysis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5800" y="47548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300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checks: row counts and null profiling across every table.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300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analysis: release trends by year and month, genre mix, rating distribution.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300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analysis: window functions to rank movies, genres, studios and cast.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▪"/>
            </a:pPr>
            <a:r>
              <a:rPr lang="en-US" sz="1300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analytics: running totals, moving averages and inter-movie gaps for directors.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SQL Case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description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Schema: imdb  •  6 tables  •  movies released 2017-2019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3261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1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COLUMNS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movie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row per movie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(PK), title, year, date_published, duration, country, worlwide_gross_income, languages, production_company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row per movie-genre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movie_id (FK), genre — a movie can carry several genres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ratings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row per movie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movie_id (FK), avg_rating, total_votes, median_rating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row per person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(PK), name, height, date_of_birth, known_for_movies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director_mapping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 ↔ director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movie_id (FK), name_id (FK)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role_mapping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 ↔ cast member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movie_id (FK), name_id (FK), category (actor / actress)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521208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the gross-income column is spelled worlwide_gross_income in the source schema and is stored as text (e.g. "$ 962102237"), so it must be cleaned and cast before any numeric ordering.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SQL Case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relationships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tables connect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00600" y="33558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36850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0E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 •  central fact table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59436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analytical query in this deck is a join path through movie.id or names.id.</a:t>
            </a:r>
            <a:endParaRPr lang="en-US" sz="1200" dirty="0"/>
          </a:p>
        </p:txBody>
      </p:sp>
      <p:pic>
        <p:nvPicPr>
          <p:cNvPr id="34" name="Image 0" descr="images/schema.png">
            <a:extLst>
              <a:ext uri="{FF2B5EF4-FFF2-40B4-BE49-F238E27FC236}">
                <a16:creationId xmlns:a16="http://schemas.microsoft.com/office/drawing/2014/main" id="{9EB35C55-1BB9-6F0A-81E6-37AFC3F960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90562" y="1453896"/>
            <a:ext cx="8380396" cy="44439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SQL Case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&amp; SQL techniques used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513832" cy="123444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600200"/>
            <a:ext cx="5513832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17465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" y="213055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COUNT, SUM, AVG, MIN, MAX with GROUP BY / HAVING for volume, duration and vote roll-ups.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513832" cy="123444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1600200"/>
            <a:ext cx="5513832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7465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28232" y="213055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and LEFT joins across movie, genre, ratings, names and the two mapping tables.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063240"/>
            <a:ext cx="5513832" cy="123444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063240"/>
            <a:ext cx="5513832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2095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8952" y="359359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clauses to stage intermediate results so each ranking query stays readable.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063240"/>
            <a:ext cx="5513832" cy="123444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22" name="Shape 20"/>
          <p:cNvSpPr/>
          <p:nvPr/>
        </p:nvSpPr>
        <p:spPr>
          <a:xfrm>
            <a:off x="6172200" y="3063240"/>
            <a:ext cx="5513832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32095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functions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28232" y="359359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DENSE_RANK, ROW_NUMBER, LAG and framed SUM / AVG OVER for ranks, running totals and gaps.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526280"/>
            <a:ext cx="5513832" cy="123444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4526280"/>
            <a:ext cx="5513832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" y="46725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logic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8952" y="505663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expressions to bucket ratings into Superhit / Hit / One-time-watch / Flop.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526280"/>
            <a:ext cx="5513832" cy="123444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30" name="Shape 28"/>
          <p:cNvSpPr/>
          <p:nvPr/>
        </p:nvSpPr>
        <p:spPr>
          <a:xfrm>
            <a:off x="6172200" y="4526280"/>
            <a:ext cx="5513832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46725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handling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28232" y="505663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NULL profiling, LIKE and POSITION filters, REPLACE + CAST to make text money numeric.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58978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answer below shows the exact query that was run and the result grid it returned in MySQL Workbench.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&amp; Genres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2011680" cy="274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1 – 9  •  9 queries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total number of rows in each table of the schema.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row_counts from director_mapping;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row_counts from genre;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row_counts from movie;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row_counts from names;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row_counts from ratings;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row_counts from role_mapping;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· Segment 1 — Movies &amp; Genres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01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total number of rows in each table of the schema.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rows  ×  2 columns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482596"/>
          <a:ext cx="10607040" cy="2944368"/>
        </p:xfrm>
        <a:graphic>
          <a:graphicData uri="http://schemas.openxmlformats.org/drawingml/2006/table">
            <a:tbl>
              <a:tblPr/>
              <a:tblGrid>
                <a:gridCol w="5582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4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row_counts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director_mapping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3867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genre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see result tab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movie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see result tab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see result tab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ratings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see result tab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role_mapping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see result tab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statement returns its own result tab; director_mapping = 3,867 rows.</a:t>
            </a:r>
            <a:endParaRPr lang="en-US" sz="1200" dirty="0"/>
          </a:p>
        </p:txBody>
      </p:sp>
      <p:sp>
        <p:nvSpPr>
          <p:cNvPr id="8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· Segment 1 — Movies &amp; Genres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columns in the movie table have null values?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SUM(country IS NULL) AS country_nulls,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SUM(worlwide_gross_income IS NULL) AS worldwide_gross_income_nulls,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SUM(languages IS NULL) AS languages_nulls,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SUM(production_company IS NULL) AS production_company_nulls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movie;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· Segment 1 — Movies &amp; Genres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02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columns in the movie table have null values?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row  ×  4 columns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534156"/>
          <a:ext cx="10607040" cy="841248"/>
        </p:xfrm>
        <a:graphic>
          <a:graphicData uri="http://schemas.openxmlformats.org/drawingml/2006/table">
            <a:tbl>
              <a:tblPr/>
              <a:tblGrid>
                <a:gridCol w="187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9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3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country_nulls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worldwide_gross_income_nulls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languages_nulls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production_company_nulls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3724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columns carry nulls; worlwide_gross_income is the sparsest field in the table.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· Segment 1 — Movies &amp; Genres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total number of movies released each year. How does the trend look month wise?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-- 1st part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year, count(id) as number_of_movies from movie group by year;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-- 2nd part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month(date_published) as Month_num, count(id) as number_of_movies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movie group by Month_num order by Month_num;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· Segment 1 — Movies &amp; Genres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03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total number of movies released each year. How does the trend look month wise?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rows  ×  4 columns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692908"/>
          <a:ext cx="10607040" cy="2523744"/>
        </p:xfrm>
        <a:graphic>
          <a:graphicData uri="http://schemas.openxmlformats.org/drawingml/2006/table">
            <a:tbl>
              <a:tblPr/>
              <a:tblGrid>
                <a:gridCol w="139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7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7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number_of_movies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month_num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number_of_movies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3052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2944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824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680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falls year on year; March (month 3) is the busiest release month.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· Segment 1 — Movies &amp; Genres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movies were produced in the USA or India in the year 2019?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seperate way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country, count(*) from movie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(country = "USA" or country = "India") and year = 2019 group by country;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combined way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count(id) as Number_of_movies from movie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(country like "India" or country like "USA") and year = 2019;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· Segment 1 — Movies &amp; Genres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04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movies were produced in the USA or India in the year 2019?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row  ×  1 column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534156"/>
          <a:ext cx="10607040" cy="841248"/>
        </p:xfrm>
        <a:graphic>
          <a:graphicData uri="http://schemas.openxmlformats.org/drawingml/2006/table">
            <a:tbl>
              <a:tblPr/>
              <a:tblGrid>
                <a:gridCol w="1060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Number_of_movies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887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and India together account for 887 of the 2,001 movies released in 2019.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· Segment 1 — Movies &amp; Genres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unique list of the genres present in the data set.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distinct(genre) from genre;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· Segment 1 — Movies &amp; Genres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05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unique list of the genres present in the data set.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rows  ×  1 column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011680"/>
          <a:ext cx="10607040" cy="4008846"/>
        </p:xfrm>
        <a:graphic>
          <a:graphicData uri="http://schemas.openxmlformats.org/drawingml/2006/table">
            <a:tbl>
              <a:tblPr/>
              <a:tblGrid>
                <a:gridCol w="1060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Drama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Fantasy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Thriller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Comedy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Horror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Family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Romance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Adventure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Sci-Fi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Crime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Mystery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Others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distinct genres are available for RSVP Movies to choose from.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· Segment 1 — Movies &amp; Genres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genre had the highest number of movies produced overall?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genre, count(movie_id) as Total_movies_count from genre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genre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Total_movies_count desc limit 1;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· Segment 1 — Movies &amp; Genres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06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genre had the highest number of movies produced overall?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row  ×  2 columns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534156"/>
          <a:ext cx="10607040" cy="841248"/>
        </p:xfrm>
        <a:graphic>
          <a:graphicData uri="http://schemas.openxmlformats.org/drawingml/2006/table">
            <a:tbl>
              <a:tblPr/>
              <a:tblGrid>
                <a:gridCol w="3079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7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Total_movies_count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Drama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4285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 dominates production volume — but a movie can carry multiple genre tags.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· Segment 1 — Movies &amp; Genres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movies belong to only one genre?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ddd as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(select movie_id, count(genre) as genre_count from genre group by movie_id)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count(genre_count) as movie_num from ddd where genre_count = 1;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· Segment 1 — Movies &amp; Genres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07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movies belong to only one genre?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row  ×  1 column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534156"/>
          <a:ext cx="10607040" cy="841248"/>
        </p:xfrm>
        <a:graphic>
          <a:graphicData uri="http://schemas.openxmlformats.org/drawingml/2006/table">
            <a:tbl>
              <a:tblPr/>
              <a:tblGrid>
                <a:gridCol w="1060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movie_num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3289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3,289 single-genre movies — a large enough base to treat genre as a real signal.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· Segment 1 — Movies &amp; Genres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average duration of movies in each genre? (A movie can belong to multiple genres.)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258568"/>
            <a:ext cx="11183112" cy="3685032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258568"/>
            <a:ext cx="45720" cy="36850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56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1074420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genre.genre, round(avg(movie.duration),2) as avg_duration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genre join movie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movie.id = genre.movie_id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genre.genre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avg_duration desc;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· Segment 1 — Movies &amp; Genres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08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average duration of movies in each genre? (A movie can belong to multiple genres.)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rows  ×  2 columns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884932"/>
          <a:ext cx="10607040" cy="2523744"/>
        </p:xfrm>
        <a:graphic>
          <a:graphicData uri="http://schemas.openxmlformats.org/drawingml/2006/table">
            <a:tbl>
              <a:tblPr/>
              <a:tblGrid>
                <a:gridCol w="4321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5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avg_duration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112.88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Romance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109.53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107.05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Drama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106.77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Fantasy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105.14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runs longest (~113 min); Drama sits near 107 min. Top 5 of 13 rows shown.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· Segment 1 — Movies &amp; Genres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rank of the 'thriller' genre among all genres in terms of number of movies produced?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genre_ranking as (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genre, count(movie_id) as movie_count,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dense_rank() over(order by count(movie_id) desc) as genre_rank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genre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genre)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genre_ranking where genre = "thriller";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 · Segment 1 — Movies &amp; Genres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09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 — Movies &amp; Genres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rank of the 'thriller' genre among all genres in terms of number of movies produced?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row  ×  3 columns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534156"/>
          <a:ext cx="10607040" cy="841248"/>
        </p:xfrm>
        <a:graphic>
          <a:graphicData uri="http://schemas.openxmlformats.org/drawingml/2006/table">
            <a:tbl>
              <a:tblPr/>
              <a:tblGrid>
                <a:gridCol w="3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0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genre_rank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Thriller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1484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Thriller ranks 3rd overall with 1,484 movies.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 · Segment 1 — Movies &amp; Genres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Analysis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2011680" cy="274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10 – 17  •  8 queries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minimum and maximum values in each column of the ratings table except movie_id.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min(avg_rating) as min_avg_rating, max(avg_rating) as max_avg_rating,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min(total_votes) as min_total_votes, max(total_votes) as max_total_votes,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min(median_rating) as min_median_rating, max(median_rating) as max_median_rating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ratings;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 · Segment 2 — Ratings Analysis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minimum and maximum values in each column of the ratings table except movie_id.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row  ×  6 columns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534156"/>
          <a:ext cx="10607040" cy="8412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min_avg_rating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max_avg_rating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min_total_votes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max_total_votes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min_median_rating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max_median_rating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725138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values fall inside the expected range — no outliers in the ratings table.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 · Segment 2 — Ratings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 the top 10 movies based on average rating?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top_movie as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(select movie.title as title, ratings.avg_rating,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dense_rank() over(order by ratings.avg_rating desc) as movie_rank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movie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ratings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movie.id = ratings.movie_id)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top_movie where movie_rank &lt;= 10;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 · Segment 2 — Ratings Analysis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11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 the top 10 movies based on average rating?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rows  ×  3 columns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692908"/>
          <a:ext cx="10607040" cy="2523744"/>
        </p:xfrm>
        <a:graphic>
          <a:graphicData uri="http://schemas.openxmlformats.org/drawingml/2006/table">
            <a:tbl>
              <a:tblPr/>
              <a:tblGrid>
                <a:gridCol w="4545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0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0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avg_rating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movie_rank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Kirket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Love in Kilnerry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Gini Helida Kathe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Runam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DENSE_RANK keeps tied ratings on the same rank. First 5 of the top-10 block shown.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 · Segment 2 — Ratings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 the ratings table based on the movie counts by median rating.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median_rating, count(movie_id) as movie_count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ratings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median_rating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median_rating;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 · Segment 2 — Ratings Analysis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12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 the ratings table based on the movie counts by median rating.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rows  ×  2 columns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692908"/>
          <a:ext cx="10607040" cy="2523744"/>
        </p:xfrm>
        <a:graphic>
          <a:graphicData uri="http://schemas.openxmlformats.org/drawingml/2006/table">
            <a:tbl>
              <a:tblPr/>
              <a:tblGrid>
                <a:gridCol w="563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median_rating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479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is centred on the mid ratings; median rating 7 holds the most movies.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 · Segment 2 — Ratings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production house has produced the most number of hit movies (average rating &gt; 8)?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www as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(select m.production_company, count(m.id) as movie_count,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dense_rank() over (order by count(m.id) desc) as prod_company_rank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movie m join ratings r on m.id = r.movie_id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r.avg_rating &gt; 8 and m.production_company is not null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group by m.production_company)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www where prod_company_rank = 1;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 · Segment 2 — Ratings Analysis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13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production house has produced the most number of hit movies (average rating &gt; 8)?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rows  ×  3 columns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323844"/>
          <a:ext cx="10607040" cy="1261872"/>
        </p:xfrm>
        <a:graphic>
          <a:graphicData uri="http://schemas.openxmlformats.org/drawingml/2006/table">
            <a:tbl>
              <a:tblPr/>
              <a:tblGrid>
                <a:gridCol w="4448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6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2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production_company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prod_company_rank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Dream Warrior Pictures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National Theatre Live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studios tie at rank 1 with 3 hit movies each.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 · Segment 2 — Ratings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movies released in each genre during March 2017 in the USA had more than 1,000 votes?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258568"/>
            <a:ext cx="11183112" cy="3685032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258568"/>
            <a:ext cx="45720" cy="36850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56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1074420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g.genre, count(*) as movie_count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genre g left join ratings r on g.movie_id = r.movie_id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movie m on r.movie_id = m.id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m.country = "USA"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(m.date_published between "2017-03-01" and "2017-03-31")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r.total_votes &gt; 1000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g.genre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movie_count desc;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 · Segment 2 — Ratings Analysis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14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movies released in each genre during March 2017 in the USA had more than 1,000 votes?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rows  ×  2 columns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464308"/>
          <a:ext cx="10607040" cy="3364992"/>
        </p:xfrm>
        <a:graphic>
          <a:graphicData uri="http://schemas.openxmlformats.org/drawingml/2006/table">
            <a:tbl>
              <a:tblPr/>
              <a:tblGrid>
                <a:gridCol w="471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movie_count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Drama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Comedy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Sci-Fi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Thriller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 leads USA March-2017 releases with meaningful vote volume.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 · Segment 2 — Ratings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movies of each genre that start with the word 'The' and which have an average rating &gt; 8.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258568"/>
            <a:ext cx="11183112" cy="3685032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258568"/>
            <a:ext cx="45720" cy="36850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56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1074420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m.title, r.avg_rating, g.genre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movie m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genre g on m.id = g.movie_id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ratings r on m.id = r.movie_id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r.avg_rating &gt; 8 and m.title like "The%"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r.avg_rating desc;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 · Segment 2 — Ratings Analysis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15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movies of each genre that start with the word 'The' and which have an average rating &gt; 8.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rows  ×  3 columns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464308"/>
          <a:ext cx="10607040" cy="3364992"/>
        </p:xfrm>
        <a:graphic>
          <a:graphicData uri="http://schemas.openxmlformats.org/drawingml/2006/table">
            <a:tbl>
              <a:tblPr/>
              <a:tblGrid>
                <a:gridCol w="5407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1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7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avg_rating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Brighton Miracle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Drama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Colour of Darkness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Drama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Blue Elephant 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Drama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Blue Elephant 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Blue Elephant 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Mystery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Irishman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Irishman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Drama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Multi-genre movies repeat across rows — expected from the genre join.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 · Segment 2 — Ratings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movies released between 1 April 2018 and 1 April 2019, how many were given a median rating of 8?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COUNT(m.id) AS movie_count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movie m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JOIN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ratings r ON m.id = r.movie_id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(m.date_published BETWEEN '2018-04-01' AND '2019-04-01')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AND r.median_rating = 8;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 · Segment 2 — Ratings Analysis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16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movies released between 1 April 2018 and 1 April 2019, how many were given a median rating of 8?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row  ×  1 column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534156"/>
          <a:ext cx="10607040" cy="841248"/>
        </p:xfrm>
        <a:graphic>
          <a:graphicData uri="http://schemas.openxmlformats.org/drawingml/2006/table">
            <a:tbl>
              <a:tblPr/>
              <a:tblGrid>
                <a:gridCol w="1060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361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361 movies in that 12-month window scored a median rating of exactly 8.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 · Segment 2 — Ratings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German movies get more votes than Italian movies?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'German' AS country_type, SUM(r.total_votes) AS total_votes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movie m JOIN ratings r ON m.id = r.movie_id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m.country LIKE '%Germany%'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'Italian' AS country_type, SUM(r.total_votes) AS total_votes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movie m JOIN ratings r ON m.id = r.movie_id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m.country LIKE '%Italy%';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 · Segment 2 — Ratings Analysis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17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— Ratings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German movies get more votes than Italian movies?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rows  ×  2 columns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323844"/>
          <a:ext cx="10607040" cy="1261872"/>
        </p:xfrm>
        <a:graphic>
          <a:graphicData uri="http://schemas.openxmlformats.org/drawingml/2006/table">
            <a:tbl>
              <a:tblPr/>
              <a:tblGrid>
                <a:gridCol w="5474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2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country_type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total_votes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German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2026223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Italian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703024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German movies pull nearly 3x the votes of Italian movies.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 · Segment 2 — Ratings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Names, Cast &amp; Crew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2011680" cy="274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18 – 24  •  7 queries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columns in the names table have null values?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SUM(name IS NULL) AS name_nulls,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SUM(height IS NULL) AS height_nulls,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SUM(date_of_birth IS NULL) AS date_of_birth_null,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SUM(known_for_movies IS NULL) AS know_for_movies_nulls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 · Segment 3 — Names, Cast &amp; Crew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18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columns in the names table have null values?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row  ×  4 columns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534156"/>
          <a:ext cx="10607040" cy="841248"/>
        </p:xfrm>
        <a:graphic>
          <a:graphicData uri="http://schemas.openxmlformats.org/drawingml/2006/table">
            <a:tbl>
              <a:tblPr/>
              <a:tblGrid>
                <a:gridCol w="1928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4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0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3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name_nulls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height_nulls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date_of_birth_null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know_for_movies_nulls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17335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13431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15226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is fully populated; the biographical columns are heavily incomplete.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 · Segment 3 — Names, Cast &amp; Crew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top three directors in the top three genres whose movies have an average rating &gt; 8?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top_directors as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(select g.genre, count(distinct g.movie_id) as movie_count from genre g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join ratings r on g.movie_id = r.movie_id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r.avg_rating &gt; 8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group by g.genre order by movie_count desc limit 3)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n.name, count(distinct dm.movie_id) as movie_count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top_directors tp join genre g on tp.genre = g.genre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director_mapping dm on g.movie_id = dm.movie_id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names n on n.id = dm.name_id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ratings r on dm.movie_id = r.movie_id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r.avg_rating &gt; 8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n.name order by movie_count desc limit 3;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 · Segment 3 — Names, Cast &amp; Crew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19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top three directors in the top three genres whose movies have an average rating &gt; 8?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rows  ×  2 columns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113532"/>
          <a:ext cx="10607040" cy="1682496"/>
        </p:xfrm>
        <a:graphic>
          <a:graphicData uri="http://schemas.openxmlformats.org/drawingml/2006/table">
            <a:tbl>
              <a:tblPr/>
              <a:tblGrid>
                <a:gridCol w="563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Joe Russo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James Mangold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Anthony Russo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directors tie at 2 highly rated movies inside the top-3 genres.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 · Segment 3 — Names, Cast &amp; Crew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top two actors whose movies have a median rating &gt;= 8?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n.name AS actor_name,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COUNT(DISTINCT rm.movie_id) AS movie_count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role_mapping rm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names n ON n.id = rm.name_id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ratings r ON rm.movie_id = r.movie_id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r.median_rating &gt;= 8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rm.category = 'actor'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n.name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movie_count DESC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2;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 · Segment 3 — Names, Cast &amp; Crew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20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top two actors whose movies have a median rating &gt;= 8?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rows  ×  2 columns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323844"/>
          <a:ext cx="10607040" cy="1261872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actor_name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Mammootty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Mohanlal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Malayalam veterans Mammootty and Mohanlal lead on consistently high median ratings.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 · Segment 3 — Names, Cast &amp; Crew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 the top three production houses based on the number of votes received by their movies?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aa as(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m.production_company, sum(r.total_votes) as vote_count,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dense_rank() over(order by sum(r.total_votes) desc) as prod_comp_rank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movie m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ratings r on m.id = r.movie_id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m.production_company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aa where prod_comp_rank &lt;= 3;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Q21 · Segment 3 — Names, Cast &amp; Crew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21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 the top three production houses based on the number of votes received by their movies?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rows  ×  3 columns</a:t>
            </a:r>
            <a:endParaRPr lang="en-US" sz="1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113532"/>
          <a:ext cx="10607041" cy="1682496"/>
        </p:xfrm>
        <a:graphic>
          <a:graphicData uri="http://schemas.openxmlformats.org/drawingml/2006/table">
            <a:tbl>
              <a:tblPr/>
              <a:tblGrid>
                <a:gridCol w="4652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production_company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vote_count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prod_comp_rank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Marvel Studios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2656967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Twentieth Century Fox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2411163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Warner Bros.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2396057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Marvel Studios rules audience engagement by raw vote count.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Q21 · Segment 3 — Names, Cast &amp; Crew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actors with movies released in India based on their average ratings (min. 5 Indian movies).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actor_stats AS (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n.name AS actor_name, SUM(r.total_votes) AS total_votes,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COUNT(DISTINCT m.id) AS movie_count,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SUM(r.avg_rating * r.total_votes) / SUM(r.total_votes) AS actor_avg_rating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movie m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role_mapping rm ON m.id = rm.movie_id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names n ON rm.name_id = n.id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ratings r ON r.movie_id = m.id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m.country like '%India%' AND rm.category = 'actor'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n.name HAVING COUNT(DISTINCT m.id) &gt;= 5)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actor_name, total_votes, movie_count,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ROUND(actor_avg_rating, 2) AS actor_avg_rating,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DENSE_RANK() OVER (ORDER BY actor_avg_rating DESC, total_votes DESC) AS actor_rank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actor_stats ORDER BY actor_rank;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Q22 · Segment 3 — Names, Cast &amp; Crew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22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actors with movies released in India based on their average ratings (min. 5 Indian movies).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rows  ×  5 columns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692908"/>
          <a:ext cx="10607040" cy="2523744"/>
        </p:xfrm>
        <a:graphic>
          <a:graphicData uri="http://schemas.openxmlformats.org/drawingml/2006/table">
            <a:tbl>
              <a:tblPr/>
              <a:tblGrid>
                <a:gridCol w="252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5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actor_name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total_votes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actor_avg_rating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actor_rank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Vijay Sethupathi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23114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8.42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Fahadh Faasil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13557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7.99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Yogi Babu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8500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7.83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Joju George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3926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7.58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Ammy Virk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2504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7.55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Vote-weighted average with total_votes as tie breaker. Vijay Sethupathi tops the list.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Q22 · Segment 3 — Names, Cast &amp; Crew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top five actresses in Hindi movies released in India based on their average ratings (min. 3 movies).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258568"/>
            <a:ext cx="11183112" cy="3685032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258568"/>
            <a:ext cx="45720" cy="36850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56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1074420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actress_stats AS (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n.name AS actress_name, SUM(r.total_votes) AS total_votes,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COUNT(DISTINCT m.id) AS movie_count,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SUM(r.avg_rating * r.total_votes) / SUM(r.total_votes) AS actress_avg_rating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movie m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role_mapping rm ON m.id = rm.movie_id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names n ON rm.name_id = n.id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ratings r ON r.movie_id = m.id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m.country like '%India%' AND rm.category = 'actress'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m.languages like "%Hindi%"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n.name HAVING COUNT(DISTINCT m.id) &gt;= 3)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actress_name, total_votes, movie_count,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ROUND(actress_avg_rating, 2) AS actress_avg_rating,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DENSE_RANK() OVER (ORDER BY actress_avg_rating DESC, total_votes DESC) AS actress_rank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actress_stats ORDER BY actress_rank limit 5;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Q23 · Segment 3 — Names, Cast &amp; Crew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23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top five actresses in Hindi movies released in India based on their average ratings (min. 3 movies).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rows  ×  5 columns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884932"/>
          <a:ext cx="10607040" cy="2523744"/>
        </p:xfrm>
        <a:graphic>
          <a:graphicData uri="http://schemas.openxmlformats.org/drawingml/2006/table">
            <a:tbl>
              <a:tblPr/>
              <a:tblGrid>
                <a:gridCol w="231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actress_name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total_votes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actress_avg_rating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actress_rank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Taapsee Pannu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18061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7.74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Kriti Sanon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21967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7.05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Divya Dutta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8579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6.88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Shraddha Kapoor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26779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6.63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Kriti Kharbanda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2549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4.80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Taapsee Pannu tops Hindi actresses with a weighted average rating of 7.74.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Q23 · Segment 3 — Names, Cast &amp; Crew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thriller movies by average rating: Superhit (&gt;8), Hit (7-8), One-time-watch (5-7), Flop (&lt;5).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g.genre, r.avg_rating,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r.avg_rating &gt; 8 THEN 'Superhit movies'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r.avg_rating &gt;= 7 THEN 'Hit movies'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r.avg_rating &gt;= 5 THEN 'One-time-watch movies'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'Flop movies'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AS movie_category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ratings r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genre g ON r.movie_id = g.movie_id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g.genre = 'Thriller';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Q24 · Segment 3 — Names, Cast &amp; Crew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24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— Names, Cast &amp; Crew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thriller movies by average rating: Superhit (&gt;8), Hit (7-8), One-time-watch (5-7), Flop (&lt;5).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rows  ×  3 columns</a:t>
            </a:r>
            <a:endParaRPr lang="en-US" sz="1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272284"/>
          <a:ext cx="10607039" cy="3364992"/>
        </p:xfrm>
        <a:graphic>
          <a:graphicData uri="http://schemas.openxmlformats.org/drawingml/2006/table">
            <a:tbl>
              <a:tblPr/>
              <a:tblGrid>
                <a:gridCol w="2495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1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9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avg_rating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Thriller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Hit movies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Thriller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Flop movies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Thriller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One-time-watch movies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Thriller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One-time-watch movies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Thriller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Hit movies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Thriller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Flop movies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Thriller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Hit movies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CASE-based bucketing turns a continuous rating into a commercial verdict.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Q24 · Segment 3 — Names, Cast &amp; Crew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2011680" cy="274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25 – 29  •  5 queries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 — Advanced 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genre-wise running total and moving average of the average movie duration?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rr as (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g.genre, avg(m.duration) as avg_duration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movie m join genre g on m.id = g.movie_id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g.genre)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genre, round(avg_duration,2) as avg_duration,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round(sum(avg_duration) over(order by genre rows between unbounded preceding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current row),2) as running_total_duration,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round(avg(avg_duration) over(order by genre rows between 2 preceding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current row),2) as moving_avg_duration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rr order by genre;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Q25 · Segment 4 — Advanced Analytics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25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 — Advanced 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genre-wise running total and moving average of the average movie duration?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rows  ×  4 columns</a:t>
            </a:r>
            <a:endParaRPr lang="en-US" sz="1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011680"/>
          <a:ext cx="10607040" cy="3886200"/>
        </p:xfrm>
        <a:graphic>
          <a:graphicData uri="http://schemas.openxmlformats.org/drawingml/2006/table">
            <a:tbl>
              <a:tblPr/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5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7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avg_duration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running_total_duration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moving_avg_duration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112.88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112.88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112.88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Adventure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101.87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214.75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107.38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Comedy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102.62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317.38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105.79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107.05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424.43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103.85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Drama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106.77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531.20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105.48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Family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100.97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632.17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104.93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Fantasy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105.14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737.31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104.29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92.72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830.03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99.61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Mystery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101.80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931.83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99.89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frames: UNBOUNDED PRECEDING for the running total, 2 PRECEDING for a 3-row moving average.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Q25 · Segment 4 — Advanced Analytics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 — Advanced 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 the five highest-grossing movies of each year that belong to the top three genres?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258568"/>
            <a:ext cx="11183112" cy="3685032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258568"/>
            <a:ext cx="45720" cy="36850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56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1074420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top_genre AS (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g.genre, COUNT(DISTINCT g.movie_id) AS movie_count FROM genre g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g.genre ORDER BY movie_count DESC LIMIT 3),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ranked_movie AS (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g.genre, m.year, m.title AS movie_name, m.worlwide_gross_income,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ROW_NUMBER() OVER (PARTITION BY g.genre, m.year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ORDER BY CAST(REPLACE(REPLACE(m.worlwide_gross_income,'$',''),',','')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AS UNSIGNED) DESC) AS movie_rank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genre g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movie m ON m.id = g.movie_id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top_genre tg ON g.genre = tg.genre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m.worlwide_gross_income IS NOT NULL)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genre, year, movie_name, worlwide_gross_income, movie_rank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ranked_movie WHERE movie_rank &lt;= 5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genre, year, movie_rank;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Q26 · Segment 4 — Advanced Analytics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26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 — Advanced 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 the five highest-grossing movies of each year that belong to the top three genres?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rows  ×  5 columns</a:t>
            </a:r>
            <a:endParaRPr lang="en-US" sz="10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464308"/>
          <a:ext cx="10607040" cy="3364992"/>
        </p:xfrm>
        <a:graphic>
          <a:graphicData uri="http://schemas.openxmlformats.org/drawingml/2006/table">
            <a:tbl>
              <a:tblPr/>
              <a:tblGrid>
                <a:gridCol w="1165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3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4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18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worlwide_gross_income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movie_rank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Comedy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Despicable Me 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$ 1034799409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Comedy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Jumanji: Welcome to the Jungle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$ 962102237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Comedy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Guardians of the Galaxy Vol. 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$ 863756051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Comedy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Thor: Ragnarok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$ 853977126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Comedy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$ 634151679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Comedy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Deadpool 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$ 785046920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Comedy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Ant-Man and the Wasp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$ 622674139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income is stored as text — CAST after stripping '$' and ',' is required for correct ordering.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Q26 · Segment 4 — Advanced Analytics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 — Advanced 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 the top two production houses with the highest number of hits (median rating &gt;= 8) among multilingual movies?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258568"/>
            <a:ext cx="11183112" cy="3685032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258568"/>
            <a:ext cx="45720" cy="36850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56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1074420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m.production_company, count(distinct m.id) movie_count,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dense_rank() over(order by count(distinct m.id) desc) as prod_comp_rank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movie m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ratings r on m.id = r.movie_id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r.median_rating &gt;= 8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POSITION(',' IN m.languages) &gt; 0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m.production_company is not null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m.production_company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movie_count desc</a:t>
            </a:r>
            <a:endParaRPr lang="en-US" sz="125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2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2;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Q27 · Segment 4 — Advanced Analytics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27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 — Advanced 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 the top two production houses with the highest number of hits (median rating &gt;= 8) among multilingual movies?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rows  ×  3 columns</a:t>
            </a:r>
            <a:endParaRPr lang="en-US" sz="10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515868"/>
          <a:ext cx="10607040" cy="126187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production_company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prod_comp_rank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 Cinema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Twentieth Century Fox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is detected with POSITION(',' IN languages) &gt; 0 — a comma means more than one language.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Q27 · Segment 4 — Advanced Analytics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 — Advanced 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top 3 actresses based on number of Super Hit movies (average rating &gt; 8) in the drama genre?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183112" cy="4069080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45720" cy="4069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744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top_actress as(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n.name as actress_name, sum(r.total_votes) as total_votes,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count(distinct r.movie_id) as movie_count,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sum(r.total_votes * r.avg_rating) / sum(r.total_votes) as actress_avg_rating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ratings r join role_mapping rm on r.movie_id = rm.movie_id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names n on n.id = rm.name_id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genre g on g.movie_id = rm.movie_id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r.avg_rating &gt; 8 and g.genre = "Drama" and rm.category = "actress"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n.name)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actress_name, total_votes, movie_count,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round(actress_avg_rating,2) as actress_avg_rating,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dense_rank() over(order by movie_count desc, total_votes desc) as actress_rank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top_actress where movie_count is not null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actress_rank limit 3;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Q28 · Segment 4 — Advanced Analytics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28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 — Advanced 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top 3 actresses based on number of Super Hit movies (average rating &gt; 8) in the drama genre?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rows  ×  5 columns</a:t>
            </a:r>
            <a:endParaRPr lang="en-US" sz="10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3113532"/>
          <a:ext cx="10607039" cy="1682496"/>
        </p:xfrm>
        <a:graphic>
          <a:graphicData uri="http://schemas.openxmlformats.org/drawingml/2006/table">
            <a:tbl>
              <a:tblPr/>
              <a:tblGrid>
                <a:gridCol w="268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4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4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actress_name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total_votes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movie_count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actress_avg_rating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actress_rank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Parvathy Thiruvothu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4974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8.25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Amanda Lawrence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656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8.94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Denise Gough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656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8.94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on superhit count first, then total votes as the tie breaker.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Q28 · Segment 4 — Advanced Analytics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 — Advanced 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id, name, movie count, avg inter-movie days, avg rating, votes, min/max rating and total duration for the top 9 directors.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258568"/>
            <a:ext cx="11183112" cy="3685032"/>
          </a:xfrm>
          <a:prstGeom prst="rect">
            <a:avLst/>
          </a:prstGeom>
          <a:solidFill>
            <a:srgbClr val="16161D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258568"/>
            <a:ext cx="45720" cy="36850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56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1074420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director_movies AS (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dm.name_id AS director_id, n.name AS director_name, m.id AS movie_id,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m.date_published, m.duration, r.avg_rating, r.total_votes,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LAG(m.date_published) OVER (PARTITION BY dm.name_id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ORDER BY m.date_published) AS previous_movie_date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movie m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director_mapping dm ON m.id = dm.movie_id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names n ON n.id = dm.name_id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ratings r ON r.movie_id = m.id),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director_stats AS (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director_id, director_name, COUNT(DISTINCT movie_id) AS number_of_movies,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AVG(DATEDIFF(date_published, previous_movie_date)) AS avg_inter_movie_days,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AVG(avg_rating) AS avg_rating, SUM(total_votes) AS total_votes,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MIN(avg_rating) AS min_rating, MAX(avg_rating) AS max_rating,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SUM(duration) AS total_duration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director_movies GROUP BY director_id, director_name)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director_id, director_name, number_of_movies,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ROUND(avg_inter_movie_days, 0) AS avg_inter_movie_days,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ROUND(avg_rating, 2) AS avg_rating, total_votes, min_rating, max_rating, total_duration</a:t>
            </a:r>
            <a:endParaRPr lang="en-US" sz="950" dirty="0"/>
          </a:p>
          <a:p>
            <a:pPr marL="0" indent="0">
              <a:lnSpc>
                <a:spcPts val="1235"/>
              </a:lnSpc>
              <a:buNone/>
            </a:pPr>
            <a:r>
              <a:rPr lang="en-US" sz="9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director_stats ORDER BY number_of_movies DESC LIMIT 9;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Q29 · Segment 4 — Advanced Analytics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29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 — Advanced 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id, name, movie count, avg inter-movie days, avg rating, votes, min/max rating and total duration for the top 9 directors.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GRID  ·  MySQL Workbench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2029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rows  ×  9 columns</a:t>
            </a:r>
            <a:endParaRPr lang="en-US" sz="10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3642" y="2395728"/>
          <a:ext cx="10961669" cy="3502150"/>
        </p:xfrm>
        <a:graphic>
          <a:graphicData uri="http://schemas.openxmlformats.org/drawingml/2006/table">
            <a:tbl>
              <a:tblPr/>
              <a:tblGrid>
                <a:gridCol w="1383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6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1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1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35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6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0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director_id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director_name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inter_days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avg_rating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total_votes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E0E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nm1777967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A.L. Vijay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5.42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1754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6.9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613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nm2096009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Andrew Jones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3.02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1989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432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nm0831321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Chris Stokes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4.33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3664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nm0814469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Sion Sono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331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6.03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2972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nm0515005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 Liu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6.23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28557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nm0001752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Steven Soderbergh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6.48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171684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nm0425364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Jesse V. Johnson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299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5.45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14778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383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nm2691863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Justin Price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4.50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5343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nm6356309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Özgür Bakar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3.75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1092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4.9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DED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374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LAG() gives the previous release date per director; DATEDIFF turns it into an inter-movie gap.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Q29 · Segment 4 — Advanced Analytics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SQL Case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2651760" cy="137160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4285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 movies — the largest genre by volume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651760" cy="137160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3289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74720" y="2286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tagged with exactly one genre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2651760" cy="137160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from USA or India in 2019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06840" y="1600200"/>
            <a:ext cx="2651760" cy="137160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0" y="2286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votes for German movies vs 0.70M Italian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15468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▪"/>
            </a:pPr>
            <a:r>
              <a:rPr lang="en-US" sz="1300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Genre: Drama leads on volume and Thriller ranks 3rd; average runtime clusters around 100-113 minutes, so a ~105 min Drama or Thriller is the safest format.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▪"/>
            </a:pPr>
            <a:r>
              <a:rPr lang="en-US" sz="1300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Quality: ratings span the full 1.0-10.0 range with votes from 100 to 725,138, and a rating above 8 is genuinely rare.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▪"/>
            </a:pPr>
            <a:r>
              <a:rPr lang="en-US" sz="1300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Talent: vote-weighted ranking surfaces Vijay Sethupathi, Taapsee Pannu, Mammootty and Mohanlal as the most dependable names.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▪"/>
            </a:pPr>
            <a:r>
              <a:rPr lang="en-US" sz="1300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Studios: Marvel Studios, Twentieth Century Fox and Warner Bros. dominate audience votes; Star Cinema leads multilingual hits.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▪"/>
            </a:pPr>
            <a:r>
              <a:rPr lang="en-US" sz="1300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quality: worlwide_gross_income is the sparsest column (3,724 nulls) and names carries heavy nulls on height and date_of_birth.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SQL Case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00800"/>
            <a:ext cx="11183112" cy="18288"/>
          </a:xfrm>
          <a:prstGeom prst="rect">
            <a:avLst/>
          </a:prstGeom>
          <a:solidFill>
            <a:srgbClr val="2A2A3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73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RSVP Movies should do next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11183112" cy="96012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19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682496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Drama, blend a Thriller sub-plot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14600" y="2066544"/>
            <a:ext cx="9006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 has the highest production volume and Thriller ranks 3rd; both travel well internationally.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11183112" cy="96012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62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2825496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100-110 minutes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14600" y="3209544"/>
            <a:ext cx="9006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averages sit between 92 and 113 minutes; Drama averages 106.77.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11183112" cy="96012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05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3968496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from the vote-weighted shortlists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14600" y="4352544"/>
            <a:ext cx="9006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Vijay Sethupathi, Taapsee Pannu, Mammootty and Mohanlal all carry proven rating strength.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029200"/>
            <a:ext cx="11183112" cy="960120"/>
          </a:xfrm>
          <a:prstGeom prst="rect">
            <a:avLst/>
          </a:prstGeom>
          <a:solidFill>
            <a:srgbClr val="16161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48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5111496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a high-reach studio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514600" y="5495544"/>
            <a:ext cx="9006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Marvel Studios, Twentieth Century Fox and Warner Bros. dominate total votes; Star Cinema leads multilingual hits.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0807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recommendations trace directly back to the queries in Segments 1-4 of this deck.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E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D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questions  •  4 segments  •  IMDb dataset  •  MySQL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2011680" cy="274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Dipanshu Rangari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7606</Words>
  <Application>Microsoft Office PowerPoint</Application>
  <PresentationFormat>Widescreen</PresentationFormat>
  <Paragraphs>1299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IMDb SQL Case Study</dc:title>
  <dc:subject>PptxGenJS Presentation</dc:subject>
  <dc:creator>Dipanshu Rangari</dc:creator>
  <cp:lastModifiedBy>Dipanshu Rangari</cp:lastModifiedBy>
  <cp:revision>2</cp:revision>
  <dcterms:created xsi:type="dcterms:W3CDTF">2026-08-17T06:15:01Z</dcterms:created>
  <dcterms:modified xsi:type="dcterms:W3CDTF">2026-08-17T06:59:40Z</dcterms:modified>
</cp:coreProperties>
</file>